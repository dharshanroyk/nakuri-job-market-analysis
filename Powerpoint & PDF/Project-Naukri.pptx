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iter" panose="020B0604020202020204" charset="0"/>
      <p:regular r:id="rId18"/>
    </p:embeddedFont>
    <p:embeddedFont>
      <p:font typeface="Oranienbaum" panose="02000506080000020003" pitchFamily="2" charset="0"/>
      <p:regular r:id="rId19"/>
    </p:embeddedFont>
    <p:embeddedFont>
      <p:font typeface="Public Sans Bold" panose="020B0604020202020204" charset="0"/>
      <p:regular r:id="rId20"/>
    </p:embeddedFont>
    <p:embeddedFont>
      <p:font typeface="Public Sans Light" panose="020B0604020202020204" charset="0"/>
      <p:regular r:id="rId21"/>
    </p:embeddedFont>
    <p:embeddedFont>
      <p:font typeface="Tinos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364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F5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A4C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F5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6997" cy="6858000"/>
          </a:xfrm>
          <a:prstGeom prst="rect">
            <a:avLst/>
          </a:prstGeom>
          <a:solidFill>
            <a:srgbClr val="C46A3B"/>
          </a:solidFill>
          <a:ln/>
        </p:spPr>
      </p:sp>
      <p:sp>
        <p:nvSpPr>
          <p:cNvPr id="3" name="Text 1"/>
          <p:cNvSpPr/>
          <p:nvPr/>
        </p:nvSpPr>
        <p:spPr>
          <a:xfrm>
            <a:off x="660383" y="2169541"/>
            <a:ext cx="7503903" cy="1570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Project Naukri </a:t>
            </a:r>
            <a:r>
              <a:rPr lang="da-DK" sz="44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Job Market Trend 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da-DK" sz="44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60383" y="1778000"/>
            <a:ext cx="6902277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kern="100" spc="54" dirty="0">
                <a:solidFill>
                  <a:srgbClr val="C9D8D1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 INDUSTRY BRIEFING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0383" y="4064000"/>
            <a:ext cx="7816654" cy="1570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4ECE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Name: Dharshan Roy K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4ECE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StudentID: AF0532182</a:t>
            </a:r>
            <a:endParaRPr lang="en-US" sz="1600" dirty="0"/>
          </a:p>
          <a:p>
            <a:pPr marL="0" indent="0" algn="l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4ECE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Batch: ANP-D 7635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4ECE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Branch: Anudip, Pallavaram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60000">
            <a:off x="6349841" y="5943599"/>
            <a:ext cx="2920927" cy="4572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793" y="6172200"/>
            <a:ext cx="3047924" cy="2794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800" y="1270000"/>
            <a:ext cx="3809905" cy="50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6997" cy="6858000"/>
          </a:xfrm>
          <a:prstGeom prst="rect">
            <a:avLst/>
          </a:prstGeom>
          <a:solidFill>
            <a:srgbClr val="C46A3B"/>
          </a:solidFill>
          <a:ln/>
        </p:spPr>
      </p:sp>
      <p:sp>
        <p:nvSpPr>
          <p:cNvPr id="3" name="Text 1"/>
          <p:cNvSpPr/>
          <p:nvPr/>
        </p:nvSpPr>
        <p:spPr>
          <a:xfrm>
            <a:off x="660383" y="420291"/>
            <a:ext cx="3219369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kern="100" spc="130" dirty="0">
                <a:solidFill>
                  <a:srgbClr val="E7C39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[All pillars]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0383" y="1136618"/>
            <a:ext cx="7816654" cy="102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Indian Tech Jobs Market Insights and Power BI Schema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0383" y="2946400"/>
            <a:ext cx="4387740" cy="987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400" b="1" dirty="0">
                <a:solidFill>
                  <a:srgbClr val="E7C3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23,201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783" y="3947161"/>
            <a:ext cx="4514737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CE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postings on the canvas model; </a:t>
            </a:r>
            <a:r>
              <a:rPr lang="en-US" sz="1100" b="1" dirty="0">
                <a:solidFill>
                  <a:srgbClr val="E4ECE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6,944</a:t>
            </a:r>
            <a:r>
              <a:rPr lang="en-US" sz="1100" dirty="0">
                <a:solidFill>
                  <a:srgbClr val="E4ECE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employers, </a:t>
            </a:r>
            <a:r>
              <a:rPr lang="en-US" sz="1100" b="1" dirty="0">
                <a:solidFill>
                  <a:srgbClr val="E4ECE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</a:t>
            </a:r>
            <a:r>
              <a:rPr lang="en-US" sz="1100" dirty="0">
                <a:solidFill>
                  <a:srgbClr val="E4ECE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role categories, </a:t>
            </a:r>
            <a:r>
              <a:rPr lang="en-US" sz="1100" b="1" dirty="0">
                <a:solidFill>
                  <a:srgbClr val="E4ECE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</a:t>
            </a:r>
            <a:r>
              <a:rPr lang="en-US" sz="1100" dirty="0">
                <a:solidFill>
                  <a:srgbClr val="E4ECE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state values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4185" y="6407150"/>
            <a:ext cx="11023324" cy="12700"/>
          </a:xfrm>
          <a:prstGeom prst="rect">
            <a:avLst/>
          </a:prstGeom>
          <a:solidFill>
            <a:srgbClr val="6E8B80"/>
          </a:solidFill>
          <a:ln/>
        </p:spPr>
      </p:sp>
      <p:sp>
        <p:nvSpPr>
          <p:cNvPr id="8" name="Text 6"/>
          <p:cNvSpPr/>
          <p:nvPr/>
        </p:nvSpPr>
        <p:spPr>
          <a:xfrm>
            <a:off x="584185" y="6493592"/>
            <a:ext cx="997560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D8D2C4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Basis: </a:t>
            </a:r>
            <a:r>
              <a:rPr lang="en-US" sz="700" b="1" dirty="0">
                <a:solidFill>
                  <a:srgbClr val="D8D2C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23,201-row Power BI model</a:t>
            </a:r>
            <a:r>
              <a:rPr lang="en-US" sz="700" dirty="0">
                <a:solidFill>
                  <a:srgbClr val="D8D2C4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(what the canvas shows) unless marked “(de-dup)”. Source: naukri.com scrape, </a:t>
            </a:r>
            <a:r>
              <a:rPr lang="en-US" sz="700" b="1" dirty="0">
                <a:solidFill>
                  <a:srgbClr val="D8D2C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 June 2025</a:t>
            </a:r>
            <a:r>
              <a:rPr lang="en-US" sz="700" dirty="0">
                <a:solidFill>
                  <a:srgbClr val="D8D2C4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540736" y="6506210"/>
            <a:ext cx="100962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50" dirty="0">
                <a:solidFill>
                  <a:srgbClr val="D8D2C4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01</a:t>
            </a:r>
            <a:endParaRPr lang="en-US" sz="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094" y="5867400"/>
            <a:ext cx="3301917" cy="2540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087" y="5969000"/>
            <a:ext cx="2793930" cy="15240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394" y="2540000"/>
            <a:ext cx="3327317" cy="355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242788"/>
            <a:ext cx="2965376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kern="100" spc="12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[All pillars]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4185" y="484572"/>
            <a:ext cx="10413739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150" dirty="0">
                <a:solidFill>
                  <a:srgbClr val="1E2A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cleaned layer is a star schema, but reconciliation still has a 52-row open item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84185" y="1210270"/>
            <a:ext cx="11023324" cy="1776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487785"/>
            <a:ext cx="24821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kern="100" spc="11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CLEANED-LAYER DESIGN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301917" y="2667000"/>
            <a:ext cx="2412940" cy="939800"/>
          </a:xfrm>
          <a:prstGeom prst="rect">
            <a:avLst/>
          </a:prstGeom>
          <a:solidFill>
            <a:srgbClr val="F0DCCB"/>
          </a:solidFill>
          <a:ln w="12700">
            <a:solidFill>
              <a:srgbClr val="C46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8722" y="2755900"/>
            <a:ext cx="28193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JobPosting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98722" y="2972545"/>
            <a:ext cx="2819329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21,123 documented de-dup postings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84185" y="1676400"/>
            <a:ext cx="1625559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A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990" y="1765300"/>
            <a:ext cx="203194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Employer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0990" y="1981945"/>
            <a:ext cx="2031949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6,944 employers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4185" y="2489200"/>
            <a:ext cx="1625559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A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990" y="2578100"/>
            <a:ext cx="203194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0990" y="2794745"/>
            <a:ext cx="2031949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city and state rules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4185" y="3302000"/>
            <a:ext cx="1625559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A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990" y="3390900"/>
            <a:ext cx="203194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Role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0990" y="3607545"/>
            <a:ext cx="2031949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6 role categories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4185" y="4114800"/>
            <a:ext cx="1625559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A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990" y="4203700"/>
            <a:ext cx="203194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WorkMode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0990" y="4420345"/>
            <a:ext cx="2031949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on-site / hybrid / remote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99042" y="1676400"/>
            <a:ext cx="1625559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A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5848" y="1765300"/>
            <a:ext cx="203194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Experience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95848" y="1981945"/>
            <a:ext cx="2031949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re-derived tiers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99042" y="2489200"/>
            <a:ext cx="1625559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A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5848" y="2578100"/>
            <a:ext cx="203194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Recency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95848" y="2794745"/>
            <a:ext cx="2031949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capped recency bucket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 rot="17794200">
            <a:off x="5353710" y="2546350"/>
            <a:ext cx="1306281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28" name="Shape 26"/>
          <p:cNvSpPr/>
          <p:nvPr/>
        </p:nvSpPr>
        <p:spPr>
          <a:xfrm>
            <a:off x="6299042" y="3302000"/>
            <a:ext cx="1625559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A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5848" y="3390900"/>
            <a:ext cx="203194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95848" y="3607545"/>
            <a:ext cx="2031949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scrape date context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 rot="3918000">
            <a:off x="5308070" y="3765550"/>
            <a:ext cx="1397759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32" name="Shape 30"/>
          <p:cNvSpPr/>
          <p:nvPr/>
        </p:nvSpPr>
        <p:spPr>
          <a:xfrm>
            <a:off x="6299042" y="4114800"/>
            <a:ext cx="1625559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A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5848" y="4203700"/>
            <a:ext cx="203194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Skill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95848" y="4420345"/>
            <a:ext cx="2031949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lower-cased skills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 rot="2815800">
            <a:off x="1956049" y="2546350"/>
            <a:ext cx="1599366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36" name="Shape 34"/>
          <p:cNvSpPr/>
          <p:nvPr/>
        </p:nvSpPr>
        <p:spPr>
          <a:xfrm rot="1081800">
            <a:off x="2181468" y="2952750"/>
            <a:ext cx="1148528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37" name="Shape 35"/>
          <p:cNvSpPr/>
          <p:nvPr/>
        </p:nvSpPr>
        <p:spPr>
          <a:xfrm rot="20237400">
            <a:off x="2163808" y="3359150"/>
            <a:ext cx="1183948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38" name="Shape 36"/>
          <p:cNvSpPr/>
          <p:nvPr/>
        </p:nvSpPr>
        <p:spPr>
          <a:xfrm rot="18642000">
            <a:off x="1918347" y="3765550"/>
            <a:ext cx="1674870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39" name="Shape 37"/>
          <p:cNvSpPr/>
          <p:nvPr/>
        </p:nvSpPr>
        <p:spPr>
          <a:xfrm rot="19720200">
            <a:off x="5665050" y="2952750"/>
            <a:ext cx="683799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40" name="Shape 38"/>
          <p:cNvSpPr/>
          <p:nvPr/>
        </p:nvSpPr>
        <p:spPr>
          <a:xfrm rot="2283000">
            <a:off x="5636079" y="3359150"/>
            <a:ext cx="741741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41" name="Shape 39"/>
          <p:cNvSpPr/>
          <p:nvPr/>
        </p:nvSpPr>
        <p:spPr>
          <a:xfrm>
            <a:off x="3301917" y="4191000"/>
            <a:ext cx="24129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2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98722" y="4279900"/>
            <a:ext cx="28193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JobSkill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098722" y="4496545"/>
            <a:ext cx="2819329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many-to-many job-skill bridge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01917" y="5130800"/>
            <a:ext cx="241294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47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8722" y="5219700"/>
            <a:ext cx="28193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DQ_Ledger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098722" y="5436345"/>
            <a:ext cx="2819329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live COUNTIF checks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499458" y="3606800"/>
            <a:ext cx="17760" cy="584200"/>
          </a:xfrm>
          <a:prstGeom prst="rect">
            <a:avLst/>
          </a:prstGeom>
          <a:solidFill>
            <a:srgbClr val="D8A24A"/>
          </a:solidFill>
          <a:ln/>
        </p:spPr>
      </p:sp>
      <p:sp>
        <p:nvSpPr>
          <p:cNvPr id="48" name="Shape 46"/>
          <p:cNvSpPr/>
          <p:nvPr/>
        </p:nvSpPr>
        <p:spPr>
          <a:xfrm>
            <a:off x="4499458" y="4876800"/>
            <a:ext cx="17760" cy="254000"/>
          </a:xfrm>
          <a:prstGeom prst="rect">
            <a:avLst/>
          </a:prstGeom>
          <a:solidFill>
            <a:srgbClr val="A6472E"/>
          </a:solidFill>
          <a:ln/>
        </p:spPr>
      </p:sp>
      <p:sp>
        <p:nvSpPr>
          <p:cNvPr id="49" name="Text 47"/>
          <p:cNvSpPr/>
          <p:nvPr/>
        </p:nvSpPr>
        <p:spPr>
          <a:xfrm>
            <a:off x="8381790" y="4916785"/>
            <a:ext cx="15684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kern="100" spc="11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VISUAL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381790" y="5120335"/>
            <a:ext cx="3168571" cy="392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Visual:</a:t>
            </a: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star schema plus reconciliation bridge; fields: fact table, 8 dimensions, bridge table, DQ ledger, model rows, documented de-dup rows, open item.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4185" y="6407150"/>
            <a:ext cx="11023324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52" name="Text 50"/>
          <p:cNvSpPr/>
          <p:nvPr/>
        </p:nvSpPr>
        <p:spPr>
          <a:xfrm>
            <a:off x="584185" y="6493592"/>
            <a:ext cx="997560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Basis: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23,201-row Power BI model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(what the canvas shows) unless marked “(de-dup)”. Source: naukri.com scrape,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 June 2025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0540736" y="6506210"/>
            <a:ext cx="100962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242788"/>
            <a:ext cx="2965376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kern="100" spc="12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[Dashboard]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4185" y="484572"/>
            <a:ext cx="10413739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150" dirty="0">
                <a:solidFill>
                  <a:srgbClr val="1E2A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Page 1 leads with 23,201 jobs, but salary and fresher KPIs sit on narrow subsets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84185" y="1210270"/>
            <a:ext cx="11023324" cy="1776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5" name="Shape 3"/>
          <p:cNvSpPr/>
          <p:nvPr/>
        </p:nvSpPr>
        <p:spPr>
          <a:xfrm>
            <a:off x="584185" y="1536700"/>
            <a:ext cx="2412940" cy="25400"/>
          </a:xfrm>
          <a:prstGeom prst="rect">
            <a:avLst/>
          </a:prstGeom>
          <a:solidFill>
            <a:srgbClr val="C46A3B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676400"/>
            <a:ext cx="2355791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A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23,201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4185" y="2122692"/>
            <a:ext cx="2965376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Total Jobs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01917" y="1536700"/>
            <a:ext cx="2412940" cy="2540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9" name="Text 7"/>
          <p:cNvSpPr/>
          <p:nvPr/>
        </p:nvSpPr>
        <p:spPr>
          <a:xfrm>
            <a:off x="3301917" y="1676400"/>
            <a:ext cx="2355791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A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15.32 LPA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01917" y="2122692"/>
            <a:ext cx="2965376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Avg Benchmark Salary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19649" y="1536700"/>
            <a:ext cx="2412940" cy="2540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12" name="Text 10"/>
          <p:cNvSpPr/>
          <p:nvPr/>
        </p:nvSpPr>
        <p:spPr>
          <a:xfrm>
            <a:off x="6019649" y="1676400"/>
            <a:ext cx="2355791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A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11.93%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019649" y="2122692"/>
            <a:ext cx="2965376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Disclosed Salary Rate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37381" y="1536700"/>
            <a:ext cx="2412940" cy="2540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15" name="Text 13"/>
          <p:cNvSpPr/>
          <p:nvPr/>
        </p:nvSpPr>
        <p:spPr>
          <a:xfrm>
            <a:off x="8737381" y="1676400"/>
            <a:ext cx="2355791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A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18.03%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737381" y="2122692"/>
            <a:ext cx="2965376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Fresher Friendly Ratio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4185" y="2779514"/>
            <a:ext cx="4157955" cy="187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6673" indent="-46673" algn="l">
              <a:lnSpc>
                <a:spcPct val="118000"/>
              </a:lnSpc>
              <a:buSzPct val="100000"/>
              <a:buChar char="•"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Avg Benchmark Salary</a:t>
            </a:r>
            <a:r>
              <a:rPr lang="en-US" sz="10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is the mean midpoint on </a:t>
            </a: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2,768</a:t>
            </a:r>
            <a:r>
              <a:rPr lang="en-US" sz="10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disclosed salaries, not the full </a:t>
            </a: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23,201</a:t>
            </a:r>
            <a:r>
              <a:rPr lang="en-US" sz="10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-row canvas.</a:t>
            </a:r>
            <a:endParaRPr lang="en-US" sz="1050" dirty="0"/>
          </a:p>
          <a:p>
            <a:pPr marL="46673" indent="-46673" algn="l">
              <a:lnSpc>
                <a:spcPct val="118000"/>
              </a:lnSpc>
              <a:buSzPct val="100000"/>
              <a:buChar char="•"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Disclosed Salary Rate</a:t>
            </a:r>
            <a:r>
              <a:rPr lang="en-US" sz="10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is </a:t>
            </a: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11.93%</a:t>
            </a:r>
            <a:r>
              <a:rPr lang="en-US" sz="10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so salary KPIs describe a disclosed subset.</a:t>
            </a:r>
            <a:endParaRPr lang="en-US" sz="1050" dirty="0"/>
          </a:p>
          <a:p>
            <a:pPr marL="46673" indent="-46673" algn="l">
              <a:lnSpc>
                <a:spcPct val="118000"/>
              </a:lnSpc>
              <a:buSzPct val="100000"/>
              <a:buChar char="•"/>
            </a:pP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Fresher Friendly Ratio</a:t>
            </a:r>
            <a:r>
              <a:rPr lang="en-US" sz="10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is </a:t>
            </a: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18.03%</a:t>
            </a:r>
            <a:r>
              <a:rPr lang="en-US" sz="10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</a:t>
            </a: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4,182</a:t>
            </a:r>
            <a:r>
              <a:rPr lang="en-US" sz="10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postings) as built on the canvas.</a:t>
            </a:r>
            <a:endParaRPr lang="en-US" sz="1050" dirty="0"/>
          </a:p>
          <a:p>
            <a:pPr marL="46673" indent="-46673" algn="l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 </a:t>
            </a:r>
            <a:r>
              <a:rPr lang="en-US" sz="10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30-cell</a:t>
            </a:r>
            <a:r>
              <a:rPr lang="en-US" sz="10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role-by-experience matrix plus donut, pie, funnel, bar, and line charts are carried.</a:t>
            </a:r>
            <a:endParaRPr lang="en-US" sz="1050" dirty="0"/>
          </a:p>
          <a:p>
            <a:pPr marL="46673" indent="-46673" algn="l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Slicers cover work mode, skill domain, salary tier, company size, and salary range.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33867" y="2783185"/>
            <a:ext cx="33463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kern="100" spc="11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DASHBOARD COMPOSITION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33867" y="3112095"/>
            <a:ext cx="1492213" cy="17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Page 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49841" y="3162300"/>
            <a:ext cx="4190895" cy="152400"/>
          </a:xfrm>
          <a:prstGeom prst="rect">
            <a:avLst/>
          </a:prstGeom>
          <a:solidFill>
            <a:srgbClr val="E4DCCB"/>
          </a:solidFill>
          <a:ln/>
        </p:spPr>
      </p:sp>
      <p:sp>
        <p:nvSpPr>
          <p:cNvPr id="21" name="Shape 19"/>
          <p:cNvSpPr/>
          <p:nvPr/>
        </p:nvSpPr>
        <p:spPr>
          <a:xfrm>
            <a:off x="6349841" y="3162300"/>
            <a:ext cx="4190895" cy="15240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32749" y="3124200"/>
            <a:ext cx="1212820" cy="17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33867" y="3645495"/>
            <a:ext cx="1492213" cy="17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Page 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49841" y="3695700"/>
            <a:ext cx="4190895" cy="152400"/>
          </a:xfrm>
          <a:prstGeom prst="rect">
            <a:avLst/>
          </a:prstGeom>
          <a:solidFill>
            <a:srgbClr val="E4DCC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49841" y="3695700"/>
            <a:ext cx="1773094" cy="152400"/>
          </a:xfrm>
          <a:prstGeom prst="rect">
            <a:avLst/>
          </a:prstGeom>
          <a:solidFill>
            <a:srgbClr val="3E7A68"/>
          </a:solidFill>
          <a:ln/>
        </p:spPr>
      </p:sp>
      <p:sp>
        <p:nvSpPr>
          <p:cNvPr id="26" name="Text 24"/>
          <p:cNvSpPr/>
          <p:nvPr/>
        </p:nvSpPr>
        <p:spPr>
          <a:xfrm>
            <a:off x="10032749" y="3657600"/>
            <a:ext cx="1212820" cy="17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33867" y="4178895"/>
            <a:ext cx="1492213" cy="17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Page 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49841" y="4229100"/>
            <a:ext cx="4190895" cy="152400"/>
          </a:xfrm>
          <a:prstGeom prst="rect">
            <a:avLst/>
          </a:prstGeom>
          <a:solidFill>
            <a:srgbClr val="E4DCCB"/>
          </a:solidFill>
          <a:ln/>
        </p:spPr>
      </p:sp>
      <p:sp>
        <p:nvSpPr>
          <p:cNvPr id="29" name="Shape 27"/>
          <p:cNvSpPr/>
          <p:nvPr/>
        </p:nvSpPr>
        <p:spPr>
          <a:xfrm>
            <a:off x="6349841" y="4229100"/>
            <a:ext cx="1611768" cy="152400"/>
          </a:xfrm>
          <a:prstGeom prst="rect">
            <a:avLst/>
          </a:prstGeom>
          <a:solidFill>
            <a:srgbClr val="3E7A68"/>
          </a:solidFill>
          <a:ln/>
        </p:spPr>
      </p:sp>
      <p:sp>
        <p:nvSpPr>
          <p:cNvPr id="30" name="Text 28"/>
          <p:cNvSpPr/>
          <p:nvPr/>
        </p:nvSpPr>
        <p:spPr>
          <a:xfrm>
            <a:off x="10032749" y="4191000"/>
            <a:ext cx="1212820" cy="17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33867" y="4786699"/>
            <a:ext cx="6578435" cy="164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47 visuals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across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 pages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26 / 11 / 10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 Bookmarks: Insights, hide insights, Clear Filter.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4185" y="6407150"/>
            <a:ext cx="11023324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34" name="Text 32"/>
          <p:cNvSpPr/>
          <p:nvPr/>
        </p:nvSpPr>
        <p:spPr>
          <a:xfrm>
            <a:off x="584185" y="6493592"/>
            <a:ext cx="997560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Basis: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23,201-row Power BI model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(what the canvas shows) unless marked “(de-dup)”. Source: naukri.com scrape,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 June 2025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540736" y="6506210"/>
            <a:ext cx="100962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242788"/>
            <a:ext cx="2965376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kern="100" spc="12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[Dashboard]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4185" y="484572"/>
            <a:ext cx="10413739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150" dirty="0">
                <a:solidFill>
                  <a:srgbClr val="1E2A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largest matrix cell is Data Scientist × Mid: 3,074 jobs at 17.2 LPA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84185" y="1210270"/>
            <a:ext cx="11023324" cy="1776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91841"/>
            <a:ext cx="3117772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3,074</a:t>
            </a:r>
            <a:r>
              <a:rPr lang="en-US" sz="2400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jobs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4185" y="1914227"/>
            <a:ext cx="4133747" cy="343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Data Scientist × Mid (3-5 Yrs), at </a:t>
            </a:r>
            <a:r>
              <a:rPr lang="en-US" sz="10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17.2 LPA</a:t>
            </a:r>
            <a:r>
              <a:rPr lang="en-US" sz="10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Senior (6-8) is </a:t>
            </a:r>
            <a:r>
              <a:rPr lang="en-US" sz="10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1,547</a:t>
            </a:r>
            <a:r>
              <a:rPr lang="en-US" sz="10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jobs at </a:t>
            </a:r>
            <a:r>
              <a:rPr lang="en-US" sz="10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22.5 LPA</a:t>
            </a:r>
            <a:r>
              <a:rPr lang="en-US" sz="10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4185" y="2472630"/>
            <a:ext cx="4159146" cy="193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4450" indent="-44450" algn="l">
              <a:lnSpc>
                <a:spcPct val="115000"/>
              </a:lnSpc>
              <a:buSzPct val="100000"/>
              <a:buChar char="•"/>
            </a:pP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Metric Selector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is a field parameter switching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 metrics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Total Jobs, Avg Benchmark Salary (LPA), Fresher Friendly Ratio.</a:t>
            </a:r>
            <a:endParaRPr lang="en-US" sz="1000" dirty="0"/>
          </a:p>
          <a:p>
            <a:pPr marL="44450" indent="-4445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model has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8 DAX measures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including Dominant Work Mode and High Rated Jobs = rating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4.0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to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&lt;4.5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1000" dirty="0"/>
          </a:p>
          <a:p>
            <a:pPr marL="44450" indent="-4445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Role demand: Data Scientist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6,455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Data Analyst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4,729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Business Analyst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4,505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ML Engineer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4,004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Data Engineer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1,922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Python Developer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1,586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1000" dirty="0"/>
          </a:p>
          <a:p>
            <a:pPr marL="44450" indent="-4445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Experience mix: Mid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43.6%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Junior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21.2%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Senior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20.7%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Fresher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9.6%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Lead/Architect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4.9%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1000" dirty="0"/>
          </a:p>
          <a:p>
            <a:pPr marL="44450" indent="-4445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full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30-cell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role-by-experience matrix is documented; unprinted cell values are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[not in source]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86223" y="1538375"/>
            <a:ext cx="6768931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Jobs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015" y="1962150"/>
            <a:ext cx="6159346" cy="264854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33867" y="4688185"/>
            <a:ext cx="28383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kern="100" spc="11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MATRIX HIGHLIGHTS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333867" y="4968180"/>
            <a:ext cx="1904952" cy="20241"/>
          </a:xfrm>
          <a:prstGeom prst="rect">
            <a:avLst/>
          </a:prstGeom>
          <a:solidFill>
            <a:srgbClr val="C46A3B"/>
          </a:solidFill>
          <a:ln/>
        </p:spPr>
      </p:sp>
      <p:sp>
        <p:nvSpPr>
          <p:cNvPr id="12" name="Text 9"/>
          <p:cNvSpPr/>
          <p:nvPr/>
        </p:nvSpPr>
        <p:spPr>
          <a:xfrm>
            <a:off x="5333867" y="5062959"/>
            <a:ext cx="2514537" cy="137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Data Scientist × Mid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333867" y="5450092"/>
            <a:ext cx="2457389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3,074</a:t>
            </a:r>
            <a:r>
              <a:rPr lang="en-US" sz="900" dirty="0">
                <a:solidFill>
                  <a:srgbClr val="1F5A4C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jobs · </a:t>
            </a:r>
            <a:r>
              <a:rPr lang="en-US" sz="9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17.2</a:t>
            </a:r>
            <a:r>
              <a:rPr lang="en-US" sz="900" dirty="0">
                <a:solidFill>
                  <a:srgbClr val="1F5A4C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LPA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42014" y="4968180"/>
            <a:ext cx="1904952" cy="20241"/>
          </a:xfrm>
          <a:prstGeom prst="rect">
            <a:avLst/>
          </a:prstGeom>
          <a:solidFill>
            <a:srgbClr val="C46A3B"/>
          </a:solidFill>
          <a:ln/>
        </p:spPr>
      </p:sp>
      <p:sp>
        <p:nvSpPr>
          <p:cNvPr id="15" name="Text 12"/>
          <p:cNvSpPr/>
          <p:nvPr/>
        </p:nvSpPr>
        <p:spPr>
          <a:xfrm>
            <a:off x="7442014" y="5062959"/>
            <a:ext cx="2514537" cy="137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Data Scientist × Senior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442014" y="5450092"/>
            <a:ext cx="2457389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1,547</a:t>
            </a:r>
            <a:r>
              <a:rPr lang="en-US" sz="900" dirty="0">
                <a:solidFill>
                  <a:srgbClr val="1F5A4C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jobs · </a:t>
            </a:r>
            <a:r>
              <a:rPr lang="en-US" sz="9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22.5</a:t>
            </a:r>
            <a:r>
              <a:rPr lang="en-US" sz="900" dirty="0">
                <a:solidFill>
                  <a:srgbClr val="1F5A4C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LPA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550161" y="4968180"/>
            <a:ext cx="1904952" cy="20241"/>
          </a:xfrm>
          <a:prstGeom prst="rect">
            <a:avLst/>
          </a:prstGeom>
          <a:solidFill>
            <a:srgbClr val="C46A3B"/>
          </a:solidFill>
          <a:ln/>
        </p:spPr>
      </p:sp>
      <p:sp>
        <p:nvSpPr>
          <p:cNvPr id="18" name="Text 15"/>
          <p:cNvSpPr/>
          <p:nvPr/>
        </p:nvSpPr>
        <p:spPr>
          <a:xfrm>
            <a:off x="9550161" y="5062959"/>
            <a:ext cx="2514537" cy="137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Data Analyst × Junior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9550161" y="5450092"/>
            <a:ext cx="2457389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1,432</a:t>
            </a:r>
            <a:r>
              <a:rPr lang="en-US" sz="900" dirty="0">
                <a:solidFill>
                  <a:srgbClr val="1F5A4C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jobs · </a:t>
            </a:r>
            <a:r>
              <a:rPr lang="en-US" sz="9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5.5</a:t>
            </a:r>
            <a:r>
              <a:rPr lang="en-US" sz="900" dirty="0">
                <a:solidFill>
                  <a:srgbClr val="1F5A4C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LPA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333867" y="5958535"/>
            <a:ext cx="6216494" cy="261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Visual:</a:t>
            </a: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role bar plus matrix excerpt; fields: role, Total Jobs, experience tier, Avg Benchmark Salary, Metric Selector metrics, DAX measures.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84185" y="6407150"/>
            <a:ext cx="11023324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23" name="Text 20"/>
          <p:cNvSpPr/>
          <p:nvPr/>
        </p:nvSpPr>
        <p:spPr>
          <a:xfrm>
            <a:off x="584185" y="6493592"/>
            <a:ext cx="997560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Basis: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23,201-row Power BI model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(what the canvas shows) unless marked “(de-dup)”. Source: naukri.com scrape,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 June 2025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40736" y="6506210"/>
            <a:ext cx="100962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242788"/>
            <a:ext cx="2965376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kern="100" spc="12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[Dashboard]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4185" y="484572"/>
            <a:ext cx="10413739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150" dirty="0">
                <a:solidFill>
                  <a:srgbClr val="1E2A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Only 11.93% disclose salary, and the disclosed subset is right-skewed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84185" y="1210270"/>
            <a:ext cx="11023324" cy="1776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5" name="Text 3"/>
          <p:cNvSpPr/>
          <p:nvPr/>
        </p:nvSpPr>
        <p:spPr>
          <a:xfrm>
            <a:off x="336542" y="1589175"/>
            <a:ext cx="5702157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LPA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34" y="2012950"/>
            <a:ext cx="5092573" cy="26481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4185" y="4608959"/>
            <a:ext cx="5816454" cy="156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Salary basis: </a:t>
            </a:r>
            <a:r>
              <a:rPr lang="en-US" sz="9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n=2,768</a:t>
            </a: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disclosed rows (</a:t>
            </a:r>
            <a:r>
              <a:rPr lang="en-US" sz="9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11.93%</a:t>
            </a: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); mean range </a:t>
            </a:r>
            <a:r>
              <a:rPr lang="en-US" sz="9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11.60</a:t>
            </a: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to </a:t>
            </a:r>
            <a:r>
              <a:rPr lang="en-US" sz="9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19.04</a:t>
            </a: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LPA.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02197" y="1589175"/>
            <a:ext cx="575295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Share of postings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990" y="2012950"/>
            <a:ext cx="5143371" cy="26231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49841" y="4608959"/>
            <a:ext cx="5200520" cy="313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Skill domains: Business Intelligence </a:t>
            </a:r>
            <a:r>
              <a:rPr lang="en-US" sz="9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47.9%</a:t>
            </a: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AI/ML/DL </a:t>
            </a:r>
            <a:r>
              <a:rPr lang="en-US" sz="9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28.4%</a:t>
            </a: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Cloud and DevOps </a:t>
            </a:r>
            <a:r>
              <a:rPr lang="en-US" sz="9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10.1%</a:t>
            </a: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Data Engineering </a:t>
            </a:r>
            <a:r>
              <a:rPr lang="en-US" sz="9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6.9%</a:t>
            </a: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Data Science </a:t>
            </a:r>
            <a:r>
              <a:rPr lang="en-US" sz="9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6.7%</a:t>
            </a:r>
            <a:r>
              <a:rPr lang="en-US" sz="9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84185" y="5112445"/>
            <a:ext cx="10992865" cy="49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2228" indent="-42228" algn="l">
              <a:lnSpc>
                <a:spcPct val="112000"/>
              </a:lnSpc>
              <a:buSzPct val="100000"/>
              <a:buChar char="•"/>
            </a:pP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Salary tiers: Senior 10-20 =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1,201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Leadership 20+ =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463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Junior 3-6 =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463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Mid 6-10 =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329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Entry &lt;3 =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249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950" dirty="0"/>
          </a:p>
          <a:p>
            <a:pPr marL="42228" indent="-42228" algn="l">
              <a:lnSpc>
                <a:spcPct val="112000"/>
              </a:lnSpc>
              <a:buSzPct val="100000"/>
              <a:buChar char="•"/>
            </a:pP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Work-mode premium: Hybrid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21.01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versus Remote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14.49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versus On-site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13.21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LPA; work mode mix is On-site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80.6%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Hybrid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10.1%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Remote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9.3%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950" dirty="0"/>
          </a:p>
          <a:p>
            <a:pPr marL="42228" indent="-42228" algn="l">
              <a:lnSpc>
                <a:spcPct val="112000"/>
              </a:lnSpc>
              <a:buSzPct val="100000"/>
              <a:buChar char="•"/>
            </a:pP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Skills are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10,623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distinct;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547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postings (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2.4%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 are “Not Available”.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523962" y="5729935"/>
            <a:ext cx="5816454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Visual:</a:t>
            </a: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salary benchmark bars; fields: mean, median, P95, P99, max midpoint, disclosed n.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84185" y="6407150"/>
            <a:ext cx="11023324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15" name="Text 11"/>
          <p:cNvSpPr/>
          <p:nvPr/>
        </p:nvSpPr>
        <p:spPr>
          <a:xfrm>
            <a:off x="584185" y="6493592"/>
            <a:ext cx="997560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Basis: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23,201-row Power BI model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(what the canvas shows) unless marked “(de-dup)”. Source: naukri.com scrape,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 June 2025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10540736" y="6506210"/>
            <a:ext cx="100962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242788"/>
            <a:ext cx="2965376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kern="100" spc="12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[Company]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4185" y="484572"/>
            <a:ext cx="10413739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150" dirty="0">
                <a:solidFill>
                  <a:srgbClr val="1E2A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4,097 employers post exactly once, so employer concentration is a long-tail market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84185" y="1210270"/>
            <a:ext cx="11023324" cy="1776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95710"/>
            <a:ext cx="4514737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4,097</a:t>
            </a:r>
            <a:r>
              <a:rPr lang="en-US" sz="2100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employers = </a:t>
            </a:r>
            <a:r>
              <a:rPr lang="en-US" sz="2100" b="1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59.0%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84185" y="1888664"/>
            <a:ext cx="4514737" cy="326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post exactly once; they account for 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17.7%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of postings. Top 10 hold 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11.8%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top 20 hold 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15.9%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6542" y="2452775"/>
            <a:ext cx="6845129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Postings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34" y="2876550"/>
            <a:ext cx="6235544" cy="27436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9162" y="1589175"/>
            <a:ext cx="4355991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Rating band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955" y="2012950"/>
            <a:ext cx="3746406" cy="22103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46806" y="4201182"/>
            <a:ext cx="444488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Median rating is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3.6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30.7%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of postings sit at exactly </a:t>
            </a: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3.6</a:t>
            </a:r>
            <a:r>
              <a:rPr lang="en-US" sz="10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746806" y="4833441"/>
            <a:ext cx="3830939" cy="64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2228" indent="-42228" algn="l">
              <a:lnSpc>
                <a:spcPct val="112000"/>
              </a:lnSpc>
              <a:buSzPct val="100000"/>
              <a:buChar char="•"/>
            </a:pP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Largest named employer: Tata Consultancy Services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654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Accenture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438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EY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340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950" dirty="0"/>
          </a:p>
          <a:p>
            <a:pPr marL="42228" indent="-42228" algn="l">
              <a:lnSpc>
                <a:spcPct val="112000"/>
              </a:lnSpc>
              <a:buSzPct val="100000"/>
              <a:buChar char="•"/>
            </a:pP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“Leading Client” appears as an employer with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244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postings.</a:t>
            </a:r>
            <a:endParaRPr lang="en-US" sz="950" dirty="0"/>
          </a:p>
          <a:p>
            <a:pPr marL="42228" indent="-42228" algn="l">
              <a:lnSpc>
                <a:spcPct val="112000"/>
              </a:lnSpc>
              <a:buSzPct val="100000"/>
              <a:buChar char="•"/>
            </a:pP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High Rated Jobs use rating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4.0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to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&lt;4.5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in the model’s DAX logic.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523962" y="5577535"/>
            <a:ext cx="6070448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Visual:</a:t>
            </a: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employer bar plus rating-band donut; fields: employer, postings, rating band, postings.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84185" y="6407150"/>
            <a:ext cx="11023324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16" name="Text 12"/>
          <p:cNvSpPr/>
          <p:nvPr/>
        </p:nvSpPr>
        <p:spPr>
          <a:xfrm>
            <a:off x="584185" y="6493592"/>
            <a:ext cx="997560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Basis: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23,201-row Power BI model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(what the canvas shows) unless marked “(de-dup)”. Source: naukri.com scrape,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 June 2025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10540736" y="6506210"/>
            <a:ext cx="100962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242788"/>
            <a:ext cx="2965376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kern="100" spc="12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[Company]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4185" y="484572"/>
            <a:ext cx="10413739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150" dirty="0">
                <a:solidFill>
                  <a:srgbClr val="1E2A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18,868 postings sit in Small/Startup, a size bucket driven by heuristic rules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84185" y="1210270"/>
            <a:ext cx="11023324" cy="1776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94420"/>
            <a:ext cx="4895728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18,868</a:t>
            </a:r>
            <a:r>
              <a:rPr lang="en-US" sz="2200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</a:t>
            </a:r>
            <a:r>
              <a:rPr lang="en-US" sz="2200" b="1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81.3%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84185" y="1889189"/>
            <a:ext cx="4895728" cy="32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are bucketed Small/Startup (&lt;100). Large (1000+) is 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4,268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18.4%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); Mid (100-999) is only 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65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0.3%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6542" y="2528975"/>
            <a:ext cx="5702157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Postings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34" y="2952750"/>
            <a:ext cx="5092573" cy="2037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49841" y="1538585"/>
            <a:ext cx="33463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kern="100" spc="11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ANONYMISATION SIGNALS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349841" y="1898650"/>
            <a:ext cx="5257668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11" name="Text 8"/>
          <p:cNvSpPr/>
          <p:nvPr/>
        </p:nvSpPr>
        <p:spPr>
          <a:xfrm>
            <a:off x="6349841" y="2021205"/>
            <a:ext cx="258438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Leading Client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29354" y="2006600"/>
            <a:ext cx="21208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244 postings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499362" y="2016156"/>
            <a:ext cx="2108147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1.05% · would rank #4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349841" y="2813050"/>
            <a:ext cx="5257668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15" name="Text 12"/>
          <p:cNvSpPr/>
          <p:nvPr/>
        </p:nvSpPr>
        <p:spPr>
          <a:xfrm>
            <a:off x="6349841" y="2935605"/>
            <a:ext cx="258438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Keyword scan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29354" y="2921000"/>
            <a:ext cx="21208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602 postings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499362" y="2930556"/>
            <a:ext cx="2108147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2.59% · 96 generic names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349841" y="3727450"/>
            <a:ext cx="5257668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19" name="Text 16"/>
          <p:cNvSpPr/>
          <p:nvPr/>
        </p:nvSpPr>
        <p:spPr>
          <a:xfrm>
            <a:off x="6349841" y="3850005"/>
            <a:ext cx="258438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IsLikelyAnonymised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74775" y="3835400"/>
            <a:ext cx="227532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name heuristic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499362" y="3844956"/>
            <a:ext cx="2108147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rule-based flag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349841" y="4758432"/>
            <a:ext cx="5227904" cy="651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2228" indent="-42228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keyword scan uses Leading Client, Client of, Confidential, MNC, and “Service based…”; present it as indicative, not the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IsLikelyAnonymised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rule.</a:t>
            </a:r>
            <a:endParaRPr lang="en-US" sz="950" dirty="0"/>
          </a:p>
          <a:p>
            <a:pPr marL="42228" indent="-42228" algn="l">
              <a:lnSpc>
                <a:spcPct val="113000"/>
              </a:lnSpc>
              <a:buSzPct val="100000"/>
              <a:buChar char="•"/>
            </a:pP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A3: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EY (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340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), Photon (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193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), and Nagarro (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90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 are bucketed Small/Startup.</a:t>
            </a:r>
            <a:endParaRPr lang="en-US" sz="950" dirty="0"/>
          </a:p>
          <a:p>
            <a:pPr marL="42228" indent="-42228" algn="l">
              <a:lnSpc>
                <a:spcPct val="113000"/>
              </a:lnSpc>
              <a:buSzPct val="100000"/>
              <a:buChar char="•"/>
            </a:pP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A6: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“Leading Client” still ranks </a:t>
            </a:r>
            <a:r>
              <a:rPr lang="en-US" sz="95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#4</a:t>
            </a:r>
            <a:r>
              <a:rPr lang="en-US" sz="95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as an employer.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523962" y="5094935"/>
            <a:ext cx="4387740" cy="261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Visual:</a:t>
            </a: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hiring-tier bars plus anonymisation ledger; fields: size bucket, postings, generic-name scan counts.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84185" y="6407150"/>
            <a:ext cx="11023324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26" name="Text 23"/>
          <p:cNvSpPr/>
          <p:nvPr/>
        </p:nvSpPr>
        <p:spPr>
          <a:xfrm>
            <a:off x="584185" y="6493592"/>
            <a:ext cx="997560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Basis: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23,201-row Power BI model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(what the canvas shows) unless marked “(de-dup)”. Source: naukri.com scrape,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 June 2025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0540736" y="6506210"/>
            <a:ext cx="100962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242491"/>
            <a:ext cx="3022524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kern="100" spc="12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[State Overview]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84185" y="1215231"/>
            <a:ext cx="11023324" cy="1270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4" name="Text 2"/>
          <p:cNvSpPr/>
          <p:nvPr/>
        </p:nvSpPr>
        <p:spPr>
          <a:xfrm>
            <a:off x="584185" y="484473"/>
            <a:ext cx="10413739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150" dirty="0">
                <a:solidFill>
                  <a:srgbClr val="1E2A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Maharashtra leads with 5,925 postings, but the map carries scrape-coverage gaps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84185" y="1394222"/>
            <a:ext cx="4571886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5,925</a:t>
            </a:r>
            <a:r>
              <a:rPr lang="en-US" sz="2200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</a:t>
            </a:r>
            <a:r>
              <a:rPr lang="en-US" sz="2200" b="1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25.5%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84185" y="1889387"/>
            <a:ext cx="4571886" cy="32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Maharashtra combines Mumbai 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3,368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Pune 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2,557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avg disclosed LPA is 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16.17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84185" y="6471543"/>
            <a:ext cx="11023324" cy="12700"/>
          </a:xfrm>
          <a:prstGeom prst="rect">
            <a:avLst/>
          </a:prstGeom>
          <a:solidFill>
            <a:srgbClr val="C9C0A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4185" y="2413893"/>
          <a:ext cx="6171947" cy="3122857"/>
        </p:xfrm>
        <a:graphic>
          <a:graphicData uri="http://schemas.openxmlformats.org/drawingml/2006/table">
            <a:tbl>
              <a:tblPr/>
              <a:tblGrid>
                <a:gridCol w="2221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State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04518" marB="104518" anchor="ctr">
                    <a:lnL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Jobs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04518" marB="104518" anchor="ctr">
                    <a:lnL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Share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04518" marB="104518" anchor="ctr">
                    <a:lnL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Avg disclosed LPA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04518" marB="104518" anchor="ctr">
                    <a:lnL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Maharashtra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5,925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25.5%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16.17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Karnataka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3,685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15.9%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17.62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Tamil Nadu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2,693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11.6%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16.58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Delhi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2,176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9.4%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15.95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Uttar Pradesh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2,147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9.3%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13.11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Other/Remote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1,753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7.6%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11.90 (n=63)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West Bengal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1,701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7.3%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11.17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Haryana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1,636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7.1%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16.51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Gujarat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1,405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6.1%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10.38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3277" marB="7327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Telangana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8103" marB="78103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80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8103" marB="78103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0.3%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8103" marB="78103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13.70 (n=10)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8103" marB="78103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7"/>
          <p:cNvSpPr/>
          <p:nvPr/>
        </p:nvSpPr>
        <p:spPr>
          <a:xfrm>
            <a:off x="1523763" y="5629823"/>
            <a:ext cx="5460963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Visual:</a:t>
            </a: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state table and shape-map proxy bars; fields: state, jobs, share, avg disclosed LPA, salary n flags.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238720" y="4682034"/>
            <a:ext cx="436879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005" indent="-40005" algn="l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Salary leaders by avg disclosed LPA: Karnataka 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17.62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Tamil Nadu 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16.58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Maharashtra 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16.17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900" dirty="0"/>
          </a:p>
          <a:p>
            <a:pPr marL="40005" indent="-40005" algn="l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Low-base salary flags: Other/Remote 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11.90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n=63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 and Telangana 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13.70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n=10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).</a:t>
            </a:r>
            <a:endParaRPr lang="en-US" sz="900" dirty="0"/>
          </a:p>
          <a:p>
            <a:pPr marL="40005" indent="-40005" algn="l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Telangana is represented by Hyderabad only 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80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postings (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0.3%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4185" y="6494782"/>
            <a:ext cx="9386256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Basis: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23,201-row Power BI model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(what the canvas shows) unless marked “(de-dup)”. Source: naukri.com scrape,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 June 2025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1113413" y="6533694"/>
            <a:ext cx="494097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08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991175" y="1614575"/>
            <a:ext cx="4863978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Jobs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967" y="2038350"/>
            <a:ext cx="4254394" cy="25951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242788"/>
            <a:ext cx="2965376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kern="100" spc="12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[State Overview]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4185" y="484572"/>
            <a:ext cx="10413739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150" dirty="0">
                <a:solidFill>
                  <a:srgbClr val="1E2A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2,830 postings change city after cleaning, and state mixes are not  comparable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84185" y="1210270"/>
            <a:ext cx="11023324" cy="1776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94420"/>
            <a:ext cx="4895728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2,830</a:t>
            </a:r>
            <a:r>
              <a:rPr lang="en-US" sz="2200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</a:t>
            </a:r>
            <a:r>
              <a:rPr lang="en-US" sz="2200" b="1" dirty="0">
                <a:solidFill>
                  <a:srgbClr val="1F5A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12.2%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84185" y="1889189"/>
            <a:ext cx="4895728" cy="32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primary_city differs from scraped_city; 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473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postings carry a primary_city outside the </a:t>
            </a:r>
            <a:r>
              <a:rPr lang="en-US" sz="95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</a:t>
            </a:r>
            <a:r>
              <a:rPr lang="en-US" sz="9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scrape cities.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84185" y="2482850"/>
            <a:ext cx="3809905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8" name="Text 6"/>
          <p:cNvSpPr/>
          <p:nvPr/>
        </p:nvSpPr>
        <p:spPr>
          <a:xfrm>
            <a:off x="584185" y="2571750"/>
            <a:ext cx="187320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1,563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06550" y="2573528"/>
            <a:ext cx="2997125" cy="14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distinct raw location strings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4185" y="3168650"/>
            <a:ext cx="3809905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3257550"/>
            <a:ext cx="187320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27.8%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06550" y="3259328"/>
            <a:ext cx="2997125" cy="14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multi-valued locations (6,455)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4185" y="3854450"/>
            <a:ext cx="3809905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14" name="Text 12"/>
          <p:cNvSpPr/>
          <p:nvPr/>
        </p:nvSpPr>
        <p:spPr>
          <a:xfrm>
            <a:off x="584185" y="3943350"/>
            <a:ext cx="187320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198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06550" y="3945128"/>
            <a:ext cx="2997125" cy="14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primary_city values vs 11 scrape cities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8235" y="2452775"/>
            <a:ext cx="3289218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Work mode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028" y="2876550"/>
            <a:ext cx="2679633" cy="174178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825879" y="4608630"/>
            <a:ext cx="2736782" cy="28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Work mode share of postings; Hybrid premium appears on Slide 5.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51599" y="1549400"/>
          <a:ext cx="3555911" cy="3195264"/>
        </p:xfrm>
        <a:graphic>
          <a:graphicData uri="http://schemas.openxmlformats.org/drawingml/2006/table">
            <a:tbl>
              <a:tblPr/>
              <a:tblGrid>
                <a:gridCol w="120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State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4235" marB="134235" anchor="ctr">
                    <a:lnL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Fresher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4235" marB="134235" anchor="ctr">
                    <a:lnL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Hybrid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4235" marB="134235" anchor="ctr">
                    <a:lnL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Disclosure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4235" marB="134235" anchor="ctr">
                    <a:lnL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Gujarat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25.9%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4.3%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14.0%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West Bengal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23.7%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[not in source]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[not in source]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Uttar Pradesh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21.6%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[not in source]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[not in source]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Karnataka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12.3%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15.1%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[not in source]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Telangana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11.2%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[not in source]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[not in source]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77849" marB="7784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Tamil Nadu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[not in source]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14.2%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14.1%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35759" marB="13575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Other/Remote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82675" marB="8267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[not in source]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82675" marB="8267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[not in source]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82675" marB="8267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3.6%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82675" marB="8267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584185" y="4960838"/>
            <a:ext cx="7082653" cy="472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005" indent="-40005" algn="l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Cleaning removes locality suffixes and standardizes names such as “Pune(Baner)”, “Mumbai Suburban”, Hubli, and Panipat.</a:t>
            </a:r>
            <a:endParaRPr lang="en-US" sz="900" dirty="0"/>
          </a:p>
          <a:p>
            <a:pPr marL="40005" indent="-40005" algn="l">
              <a:lnSpc>
                <a:spcPct val="112000"/>
              </a:lnSpc>
              <a:buSzPct val="100000"/>
              <a:buChar char="•"/>
            </a:pP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A5: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49.1%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11,386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 sit in the capped “3+ weeks ago” bucket; 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324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are future-start postings.</a:t>
            </a:r>
            <a:endParaRPr lang="en-US" sz="900" dirty="0"/>
          </a:p>
          <a:p>
            <a:pPr marL="40005" indent="-40005" algn="l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State fresher, hybrid, and disclosure shares come from different cells in the source; blank cells are marked </a:t>
            </a:r>
            <a:r>
              <a:rPr lang="en-US" sz="900" b="1" dirty="0">
                <a:solidFill>
                  <a:srgbClr val="1E2A27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[not in source]</a:t>
            </a: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051599" y="5018735"/>
            <a:ext cx="3498762" cy="392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Visual:</a:t>
            </a:r>
            <a:r>
              <a:rPr lang="en-US" sz="8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city-cleaning ledger, work-mode donut, and state mix table; fields: raw strings, multi-valued share, primary_city, work mode, fresher share, hybrid share, disclosure share.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584185" y="6407150"/>
            <a:ext cx="11023324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24" name="Text 20"/>
          <p:cNvSpPr/>
          <p:nvPr/>
        </p:nvSpPr>
        <p:spPr>
          <a:xfrm>
            <a:off x="584185" y="6493592"/>
            <a:ext cx="997560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Basis: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23,201-row Power BI model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(what the canvas shows) unless marked “(de-dup)”. Source: naukri.com scrape,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 June 2025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10540736" y="6506210"/>
            <a:ext cx="100962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242788"/>
            <a:ext cx="2965376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kern="100" spc="12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[All pillars]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4185" y="484572"/>
            <a:ext cx="10413739" cy="338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150" dirty="0">
                <a:solidFill>
                  <a:srgbClr val="1E2A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Close the 52-row reconciliation and fix parsing before executive use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84185" y="1210270"/>
            <a:ext cx="11023324" cy="17760"/>
          </a:xfrm>
          <a:prstGeom prst="rect">
            <a:avLst/>
          </a:prstGeom>
          <a:solidFill>
            <a:srgbClr val="1F5A4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462385"/>
            <a:ext cx="25843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kern="100" spc="110" dirty="0">
                <a:solidFill>
                  <a:srgbClr val="1F5A4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ANOMALY REGISTER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4185" y="1727200"/>
          <a:ext cx="7365319" cy="3509312"/>
        </p:xfrm>
        <a:graphic>
          <a:graphicData uri="http://schemas.openxmlformats.org/drawingml/2006/table">
            <a:tbl>
              <a:tblPr/>
              <a:tblGrid>
                <a:gridCol w="736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4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3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ID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79573" marB="179573" anchor="ctr">
                    <a:lnL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Where it hits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79573" marB="179573" anchor="ctr">
                    <a:lnL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Source fact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79573" marB="179573" anchor="ctr">
                    <a:lnL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A1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Experience / fresher KPI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822 rows start at 10 yrs yet code min = 0; corrected FFR 14.46% vs 18.03%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A2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State overview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Hyderabad 80 vs Bangalore 3,685; Telangana salary n=10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A3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Company size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EY 340, Photon 193, Nagarro 90 bucketed Small/Startup; Mid has 65 rows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A4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Salary KPIs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Only n=2,768 disclosed (11.93%); mean 15.32 &gt; median 14.0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A5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Recency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49.1% capped “3+ weeks ago”; 324 future-start postings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A6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Skills / employers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Skill lists capped at 8 for 89.8%; “Leading Client” ranks #4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1889" marB="151889" anchor="ctr">
                    <a:lnL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A7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6587" marB="15658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Integrity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6587" marB="15658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A27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63 rows salary-disclosed yet tiered “Undisclosed”; role_category mislabels exist</a:t>
                      </a:r>
                      <a:endParaRPr lang="en-US" sz="8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91438" marR="91438" marT="156587" marB="15658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4185" y="5366445"/>
            <a:ext cx="7083248" cy="605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005" indent="-40005" algn="l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Methodology ask for professors: document de-dup, parsing, salary derivation, and heuristics as model contracts.</a:t>
            </a:r>
            <a:endParaRPr lang="en-US" sz="900" dirty="0"/>
          </a:p>
          <a:p>
            <a:pPr marL="40005" indent="-40005" algn="l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Executive ask for industry: use Total Jobs and role mix now; hold salary, fresher, geography, and size-tier decisions until A1-A5 are cleared.</a:t>
            </a:r>
            <a:endParaRPr lang="en-US" sz="900" dirty="0"/>
          </a:p>
          <a:p>
            <a:pPr marL="40005" indent="-40005" algn="l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1E2A27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Next build gate: no executive export until the 52-row reconciliation and A1 parser fix are closed.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4185" y="6407150"/>
            <a:ext cx="11023324" cy="12700"/>
          </a:xfrm>
          <a:prstGeom prst="rect">
            <a:avLst/>
          </a:prstGeom>
          <a:solidFill>
            <a:srgbClr val="C9C0AE"/>
          </a:solidFill>
          <a:ln/>
        </p:spPr>
      </p:sp>
      <p:sp>
        <p:nvSpPr>
          <p:cNvPr id="9" name="Text 6"/>
          <p:cNvSpPr/>
          <p:nvPr/>
        </p:nvSpPr>
        <p:spPr>
          <a:xfrm>
            <a:off x="584185" y="6493592"/>
            <a:ext cx="997560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Basis: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23,201-row Power BI model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(what the canvas shows) unless marked “(de-dup)”. Source: naukri.com scrape, </a:t>
            </a:r>
            <a:r>
              <a:rPr lang="en-US" sz="700" b="1" dirty="0">
                <a:solidFill>
                  <a:srgbClr val="6D777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 June 2025</a:t>
            </a:r>
            <a:r>
              <a:rPr lang="en-US" sz="70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540736" y="6506210"/>
            <a:ext cx="100962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50" dirty="0">
                <a:solidFill>
                  <a:srgbClr val="6D7772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1930</Words>
  <Application>Microsoft Office PowerPoint</Application>
  <PresentationFormat>Widescreen</PresentationFormat>
  <Paragraphs>281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Liter</vt:lpstr>
      <vt:lpstr>Tinos</vt:lpstr>
      <vt:lpstr>Public Sans Light</vt:lpstr>
      <vt:lpstr>Oranienbaum</vt:lpstr>
      <vt:lpstr>Arial</vt:lpstr>
      <vt:lpstr>Public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dharshan roy</dc:creator>
  <cp:lastModifiedBy>dharshan roy</cp:lastModifiedBy>
  <cp:revision>2</cp:revision>
  <dcterms:created xsi:type="dcterms:W3CDTF">2026-10-21T11:32:22Z</dcterms:created>
  <dcterms:modified xsi:type="dcterms:W3CDTF">2026-10-21T11:42:48Z</dcterms:modified>
</cp:coreProperties>
</file>